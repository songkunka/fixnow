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8381999" y="0"/>
            <a:ext cx="476251" cy="3175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8858250" y="12700"/>
            <a:ext cx="317500" cy="3048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9302750" y="0"/>
            <a:ext cx="463550" cy="4445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9766300" y="266700"/>
            <a:ext cx="361950" cy="1778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128250" y="266700"/>
            <a:ext cx="317500" cy="3175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10445750" y="584200"/>
            <a:ext cx="412750" cy="1270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10858500" y="412750"/>
            <a:ext cx="349250" cy="29845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0" name="Connector 9"/>
          <p:cNvCxnSpPr/>
          <p:nvPr/>
        </p:nvCxnSpPr>
        <p:spPr>
          <a:xfrm>
            <a:off x="11207750" y="412750"/>
            <a:ext cx="412750" cy="635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11620500" y="139700"/>
            <a:ext cx="317500" cy="33655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8636000" y="546100"/>
            <a:ext cx="476250" cy="1905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9112250" y="546100"/>
            <a:ext cx="222250" cy="2032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9334500" y="596900"/>
            <a:ext cx="444500" cy="1524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9779000" y="596900"/>
            <a:ext cx="317500" cy="215900"/>
          </a:xfrm>
          <a:prstGeom prst="line">
            <a:avLst/>
          </a:prstGeom>
          <a:ln w="16510">
            <a:solidFill>
              <a:srgbClr val="DDE1E4"/>
            </a:solidFill>
          </a:ln>
        </p:spPr>
      </p:cxnSp>
      <p:sp>
        <p:nvSpPr>
          <p:cNvPr id="16" name="Rounded Rectangle 15"/>
          <p:cNvSpPr/>
          <p:nvPr/>
        </p:nvSpPr>
        <p:spPr>
          <a:xfrm>
            <a:off x="349250" y="222250"/>
            <a:ext cx="425450" cy="42545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93700" y="266700"/>
            <a:ext cx="336550" cy="336550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6250" y="323850"/>
            <a:ext cx="50800" cy="20955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6250" y="323850"/>
            <a:ext cx="196850" cy="508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6250" y="406400"/>
            <a:ext cx="146050" cy="508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Parallelogram 20"/>
          <p:cNvSpPr/>
          <p:nvPr/>
        </p:nvSpPr>
        <p:spPr>
          <a:xfrm>
            <a:off x="552450" y="387350"/>
            <a:ext cx="127000" cy="50800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28650" y="508000"/>
            <a:ext cx="76200" cy="762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2800" y="171450"/>
            <a:ext cx="1809750" cy="425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50" b="1" i="0">
                <a:solidFill>
                  <a:srgbClr val="17191C"/>
                </a:solidFill>
                <a:latin typeface="Manrope"/>
              </a:defRPr>
            </a:pPr>
            <a:r>
              <a:t>FixNow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06700" y="279400"/>
            <a:ext cx="0" cy="349250"/>
          </a:xfrm>
          <a:prstGeom prst="line">
            <a:avLst/>
          </a:prstGeom>
          <a:ln w="12700">
            <a:solidFill>
              <a:srgbClr val="6E747B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2997200" y="247649"/>
            <a:ext cx="1428750" cy="35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22A31"/>
                </a:solidFill>
                <a:latin typeface="Manrope"/>
              </a:defRPr>
            </a:pPr>
            <a:r>
              <a:t>YOUR CAR HELP,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1" i="0">
                <a:solidFill>
                  <a:srgbClr val="222A31"/>
                </a:solidFill>
                <a:latin typeface="Manrope"/>
              </a:defRPr>
            </a:pPr>
            <a:r>
              <a:t>RIGHT NOW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73600" y="279400"/>
            <a:ext cx="0" cy="349250"/>
          </a:xfrm>
          <a:prstGeom prst="line">
            <a:avLst/>
          </a:prstGeom>
          <a:ln w="12700">
            <a:solidFill>
              <a:srgbClr val="6E747B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4940300" y="298450"/>
            <a:ext cx="282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222A31"/>
                </a:solidFill>
                <a:latin typeface="Anuphan"/>
              </a:defRPr>
            </a:pPr>
            <a:r>
              <a:t>รถมีปัญหา? FixNow ให้ช่างไปหาคุณ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061700" y="228600"/>
            <a:ext cx="0" cy="476250"/>
          </a:xfrm>
          <a:prstGeom prst="line">
            <a:avLst/>
          </a:prstGeom>
          <a:ln w="13970">
            <a:solidFill>
              <a:srgbClr val="FF5A18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11201400" y="177800"/>
            <a:ext cx="825500" cy="539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E747B"/>
                </a:solidFill>
                <a:latin typeface="Manrope"/>
              </a:defRPr>
            </a:pPr>
            <a:r>
              <a:t>FAST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E747B"/>
                </a:solidFill>
                <a:latin typeface="Manrope"/>
              </a:defRPr>
            </a:pPr>
            <a:r>
              <a:t>HELPFUL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E747B"/>
                </a:solidFill>
                <a:latin typeface="Manrope"/>
              </a:defRPr>
            </a:pPr>
            <a:r>
              <a:t>DEPENDABLE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750" b="1" i="0">
                <a:solidFill>
                  <a:srgbClr val="6E747B"/>
                </a:solidFill>
                <a:latin typeface="Manrope"/>
              </a:defRPr>
            </a:pPr>
            <a:r>
              <a:t>PRECISE</a:t>
            </a:r>
          </a:p>
        </p:txBody>
      </p:sp>
      <p:sp>
        <p:nvSpPr>
          <p:cNvPr id="30" name="Oval 29"/>
          <p:cNvSpPr/>
          <p:nvPr/>
        </p:nvSpPr>
        <p:spPr>
          <a:xfrm>
            <a:off x="9906000" y="165100"/>
            <a:ext cx="120650" cy="12065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944100" y="203200"/>
            <a:ext cx="44450" cy="44450"/>
          </a:xfrm>
          <a:prstGeom prst="ellipse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963150" y="285750"/>
            <a:ext cx="0" cy="95250"/>
          </a:xfrm>
          <a:prstGeom prst="line">
            <a:avLst/>
          </a:prstGeom>
          <a:ln w="19050">
            <a:solidFill>
              <a:srgbClr val="FF5A18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9963150" y="381000"/>
            <a:ext cx="76200" cy="76200"/>
          </a:xfrm>
          <a:prstGeom prst="line">
            <a:avLst/>
          </a:prstGeom>
          <a:ln w="19050">
            <a:solidFill>
              <a:srgbClr val="FF5A18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0" y="882650"/>
            <a:ext cx="12192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190500" y="2603500"/>
            <a:ext cx="11811000" cy="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158750" y="4476750"/>
            <a:ext cx="11842750" cy="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cxnSp>
        <p:nvCxnSpPr>
          <p:cNvPr id="37" name="Connector 36"/>
          <p:cNvCxnSpPr/>
          <p:nvPr/>
        </p:nvCxnSpPr>
        <p:spPr>
          <a:xfrm>
            <a:off x="6083300" y="984250"/>
            <a:ext cx="0" cy="154305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9569450" y="984250"/>
            <a:ext cx="0" cy="154305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6032500" y="2692400"/>
            <a:ext cx="0" cy="170180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190500" y="958850"/>
            <a:ext cx="5715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LOGO SYSTEM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81050" y="1035050"/>
            <a:ext cx="512445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sp>
        <p:nvSpPr>
          <p:cNvPr id="42" name="Rounded Rectangle 41"/>
          <p:cNvSpPr/>
          <p:nvPr/>
        </p:nvSpPr>
        <p:spPr>
          <a:xfrm>
            <a:off x="190500" y="1219200"/>
            <a:ext cx="2222500" cy="1130300"/>
          </a:xfrm>
          <a:prstGeom prst="roundRect">
            <a:avLst/>
          </a:prstGeom>
          <a:solidFill>
            <a:srgbClr val="FBFAF7"/>
          </a:solidFill>
          <a:ln w="889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368300" y="1422400"/>
            <a:ext cx="379984" cy="379984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407416" y="1461516"/>
            <a:ext cx="301752" cy="301752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4471" y="1511808"/>
            <a:ext cx="44704" cy="189992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74471" y="1511808"/>
            <a:ext cx="173228" cy="4470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74471" y="1584452"/>
            <a:ext cx="128523" cy="4470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Parallelogram 47"/>
          <p:cNvSpPr/>
          <p:nvPr/>
        </p:nvSpPr>
        <p:spPr>
          <a:xfrm>
            <a:off x="541528" y="1567688"/>
            <a:ext cx="111760" cy="44704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619759" y="1673860"/>
            <a:ext cx="67056" cy="67056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0928" y="1416812"/>
            <a:ext cx="1369060" cy="3017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2" b="1" i="0">
                <a:solidFill>
                  <a:srgbClr val="17191C"/>
                </a:solidFill>
                <a:latin typeface="Manrope"/>
              </a:defRPr>
            </a:pPr>
            <a:r>
              <a:t>FixNow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7691" y="1696212"/>
            <a:ext cx="1033780" cy="156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72" b="1" i="0">
                <a:solidFill>
                  <a:srgbClr val="17191C"/>
                </a:solidFill>
                <a:latin typeface="Manrope"/>
              </a:defRPr>
            </a:pPr>
            <a:r>
              <a:t>YOUR CAR HELP,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572" b="1" i="0">
                <a:solidFill>
                  <a:srgbClr val="17191C"/>
                </a:solidFill>
                <a:latin typeface="Manrope"/>
              </a:defRPr>
            </a:pPr>
            <a:r>
              <a:t>RIGHT NOW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8200" y="2057400"/>
            <a:ext cx="1365250" cy="152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Anuphan"/>
              </a:defRPr>
            </a:pPr>
            <a:r>
              <a:t>รถมีปัญหา? FixNow ให้ช่างไปหาคุณ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0500" y="2374900"/>
            <a:ext cx="222250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6E747B"/>
                </a:solidFill>
                <a:latin typeface="Manrope"/>
              </a:defRPr>
            </a:pPr>
            <a:r>
              <a:t>PRIMARY LOGO (HORIZONTAL)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520950" y="1219200"/>
            <a:ext cx="1562100" cy="1130300"/>
          </a:xfrm>
          <a:prstGeom prst="roundRect">
            <a:avLst/>
          </a:prstGeom>
          <a:solidFill>
            <a:srgbClr val="17191C"/>
          </a:solidFill>
          <a:ln w="6350">
            <a:solidFill>
              <a:srgbClr val="1719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2654300" y="1511300"/>
            <a:ext cx="276352" cy="2763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2682748" y="1539748"/>
            <a:ext cx="219456" cy="219456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31516" y="1576324"/>
            <a:ext cx="32512" cy="138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731516" y="1576324"/>
            <a:ext cx="125984" cy="32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731516" y="1629156"/>
            <a:ext cx="93472" cy="325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Parallelogram 59"/>
          <p:cNvSpPr/>
          <p:nvPr/>
        </p:nvSpPr>
        <p:spPr>
          <a:xfrm>
            <a:off x="2780283" y="1616964"/>
            <a:ext cx="81280" cy="32512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7180" y="1694180"/>
            <a:ext cx="48768" cy="48768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983484" y="1507236"/>
            <a:ext cx="99568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55" b="1" i="0">
                <a:solidFill>
                  <a:srgbClr val="FFFFFF"/>
                </a:solidFill>
                <a:latin typeface="Manrope"/>
              </a:defRPr>
            </a:pPr>
            <a:r>
              <a:t>FixNow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908300" y="1854200"/>
            <a:ext cx="10668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DDE1E4"/>
                </a:solidFill>
                <a:latin typeface="Manrope"/>
              </a:defRPr>
            </a:pPr>
            <a:r>
              <a:t>YOUR CAR HELP, RIGHT NOW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20950" y="2374900"/>
            <a:ext cx="156210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6E747B"/>
                </a:solidFill>
                <a:latin typeface="Manrope"/>
              </a:defRPr>
            </a:pPr>
            <a:r>
              <a:t>REVERSED LOGO (ON DARK)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171950" y="1219200"/>
            <a:ext cx="825500" cy="1130300"/>
          </a:xfrm>
          <a:prstGeom prst="roundRect">
            <a:avLst/>
          </a:prstGeom>
          <a:solidFill>
            <a:srgbClr val="FBFAF7"/>
          </a:solidFill>
          <a:ln w="889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368800" y="1517650"/>
            <a:ext cx="336804" cy="336804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4403471" y="1552321"/>
            <a:ext cx="267462" cy="267462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462907" y="1596898"/>
            <a:ext cx="39624" cy="168402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462907" y="1596898"/>
            <a:ext cx="153543" cy="3962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462907" y="1661287"/>
            <a:ext cx="113919" cy="3962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Parallelogram 70"/>
          <p:cNvSpPr/>
          <p:nvPr/>
        </p:nvSpPr>
        <p:spPr>
          <a:xfrm>
            <a:off x="4522343" y="1646428"/>
            <a:ext cx="99060" cy="39624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4591685" y="1740535"/>
            <a:ext cx="59436" cy="59436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171950" y="2374900"/>
            <a:ext cx="82550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6E747B"/>
                </a:solidFill>
                <a:latin typeface="Manrope"/>
              </a:defRPr>
            </a:pPr>
            <a:r>
              <a:t>SYMBOL (ISOLATED)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5080000" y="1219200"/>
            <a:ext cx="844550" cy="1130300"/>
          </a:xfrm>
          <a:prstGeom prst="roundRect">
            <a:avLst/>
          </a:prstGeom>
          <a:solidFill>
            <a:srgbClr val="FBFAF7"/>
          </a:solidFill>
          <a:ln w="889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5295900" y="1517650"/>
            <a:ext cx="336804" cy="336804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5330571" y="1552321"/>
            <a:ext cx="267462" cy="267462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390007" y="1596898"/>
            <a:ext cx="39624" cy="168402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5390007" y="1596898"/>
            <a:ext cx="153543" cy="3962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390007" y="1661287"/>
            <a:ext cx="113919" cy="39624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Parallelogram 79"/>
          <p:cNvSpPr/>
          <p:nvPr/>
        </p:nvSpPr>
        <p:spPr>
          <a:xfrm>
            <a:off x="5449442" y="1646428"/>
            <a:ext cx="99060" cy="39624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5518785" y="1740535"/>
            <a:ext cx="59436" cy="59436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080000" y="2374900"/>
            <a:ext cx="84455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6E747B"/>
                </a:solidFill>
                <a:latin typeface="Manrope"/>
              </a:defRPr>
            </a:pPr>
            <a:r>
              <a:t>APP ICON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223000" y="958850"/>
            <a:ext cx="3175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COLOR PALETTE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902450" y="1035050"/>
            <a:ext cx="249555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sp>
        <p:nvSpPr>
          <p:cNvPr id="85" name="Oval 84"/>
          <p:cNvSpPr/>
          <p:nvPr/>
        </p:nvSpPr>
        <p:spPr>
          <a:xfrm>
            <a:off x="6261100" y="1397000"/>
            <a:ext cx="425450" cy="42545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29350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ACTION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ORANGE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223000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#FF5A18</a:t>
            </a:r>
          </a:p>
        </p:txBody>
      </p:sp>
      <p:sp>
        <p:nvSpPr>
          <p:cNvPr id="88" name="Oval 87"/>
          <p:cNvSpPr/>
          <p:nvPr/>
        </p:nvSpPr>
        <p:spPr>
          <a:xfrm>
            <a:off x="6788150" y="1397000"/>
            <a:ext cx="425450" cy="425450"/>
          </a:xfrm>
          <a:prstGeom prst="ellipse">
            <a:avLst/>
          </a:prstGeom>
          <a:solidFill>
            <a:srgbClr val="C83D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756400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BURNT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ORANGE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750050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#C83D0A</a:t>
            </a:r>
          </a:p>
        </p:txBody>
      </p:sp>
      <p:sp>
        <p:nvSpPr>
          <p:cNvPr id="91" name="Oval 90"/>
          <p:cNvSpPr/>
          <p:nvPr/>
        </p:nvSpPr>
        <p:spPr>
          <a:xfrm>
            <a:off x="7315200" y="1397000"/>
            <a:ext cx="425450" cy="425450"/>
          </a:xfrm>
          <a:prstGeom prst="ellipse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283450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GARAGE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BLACK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77100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#17191C</a:t>
            </a:r>
          </a:p>
        </p:txBody>
      </p:sp>
      <p:sp>
        <p:nvSpPr>
          <p:cNvPr id="94" name="Oval 93"/>
          <p:cNvSpPr/>
          <p:nvPr/>
        </p:nvSpPr>
        <p:spPr>
          <a:xfrm>
            <a:off x="7842250" y="1397000"/>
            <a:ext cx="425450" cy="425450"/>
          </a:xfrm>
          <a:prstGeom prst="ellipse">
            <a:avLst/>
          </a:prstGeom>
          <a:solidFill>
            <a:srgbClr val="6E74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810499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STEEL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GRAY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04149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#6E747B</a:t>
            </a:r>
          </a:p>
        </p:txBody>
      </p:sp>
      <p:sp>
        <p:nvSpPr>
          <p:cNvPr id="97" name="Oval 96"/>
          <p:cNvSpPr/>
          <p:nvPr/>
        </p:nvSpPr>
        <p:spPr>
          <a:xfrm>
            <a:off x="8369300" y="1397000"/>
            <a:ext cx="425450" cy="425450"/>
          </a:xfrm>
          <a:prstGeom prst="ellipse">
            <a:avLst/>
          </a:prstGeom>
          <a:solidFill>
            <a:srgbClr val="DDE1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8337550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COOL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SILVER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331200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#DDE1E4</a:t>
            </a:r>
          </a:p>
        </p:txBody>
      </p:sp>
      <p:sp>
        <p:nvSpPr>
          <p:cNvPr id="100" name="Oval 99"/>
          <p:cNvSpPr/>
          <p:nvPr/>
        </p:nvSpPr>
        <p:spPr>
          <a:xfrm>
            <a:off x="8896350" y="1397000"/>
            <a:ext cx="425450" cy="425450"/>
          </a:xfrm>
          <a:prstGeom prst="ellipse">
            <a:avLst/>
          </a:prstGeom>
          <a:solidFill>
            <a:srgbClr val="F4F2ED"/>
          </a:solidFill>
          <a:ln w="762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864600" y="1854200"/>
            <a:ext cx="495299" cy="209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1" i="0">
                <a:solidFill>
                  <a:srgbClr val="222A31"/>
                </a:solidFill>
                <a:latin typeface="Manrope"/>
              </a:defRPr>
            </a:pPr>
            <a:r>
              <a:t>WORKSHOP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858250" y="2082800"/>
            <a:ext cx="501650" cy="114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75" b="0" i="0">
                <a:solidFill>
                  <a:srgbClr val="6E747B"/>
                </a:solidFill>
                <a:latin typeface="Manrope"/>
              </a:defRPr>
            </a:pPr>
            <a:r>
              <a:t>#F4F2ED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683750" y="958850"/>
            <a:ext cx="231775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TYPOGRAPHY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0229850" y="1035050"/>
            <a:ext cx="177165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sp>
        <p:nvSpPr>
          <p:cNvPr id="105" name="TextBox 104"/>
          <p:cNvSpPr txBox="1"/>
          <p:nvPr/>
        </p:nvSpPr>
        <p:spPr>
          <a:xfrm>
            <a:off x="9683750" y="1168400"/>
            <a:ext cx="22225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MANROPE + ANUPHAN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83750" y="1333500"/>
            <a:ext cx="1047749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350" b="1" i="0">
                <a:solidFill>
                  <a:srgbClr val="17191C"/>
                </a:solidFill>
                <a:latin typeface="Manrope"/>
              </a:defRPr>
            </a:pPr>
            <a:r>
              <a:t>Aa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9683750" y="1695450"/>
            <a:ext cx="82550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17191C"/>
                </a:solidFill>
                <a:latin typeface="Manrope"/>
              </a:defRPr>
            </a:pPr>
            <a:r>
              <a:t>MANROPE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683750" y="1809750"/>
            <a:ext cx="85725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 i="0">
                <a:solidFill>
                  <a:srgbClr val="6E747B"/>
                </a:solidFill>
                <a:latin typeface="Manrope"/>
              </a:defRPr>
            </a:pPr>
            <a:r>
              <a:t>700   600   400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683750" y="1930400"/>
            <a:ext cx="1174750" cy="298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Manrope"/>
              </a:defRPr>
            </a:pPr>
            <a:r>
              <a:t>ABCDEFGHIJKLMNOPQRSTUVWXYZ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Manrope"/>
              </a:defRPr>
            </a:pPr>
            <a:r>
              <a:t>abcdefghijklmnopqrstuvwxyz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Manrope"/>
              </a:defRPr>
            </a:pPr>
            <a:r>
              <a:t>0123456789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10871200" y="1358900"/>
            <a:ext cx="0" cy="958850"/>
          </a:xfrm>
          <a:prstGeom prst="line">
            <a:avLst/>
          </a:prstGeom>
          <a:ln w="10160">
            <a:solidFill>
              <a:srgbClr val="D8DADD"/>
            </a:solidFill>
          </a:ln>
        </p:spPr>
      </p:cxnSp>
      <p:sp>
        <p:nvSpPr>
          <p:cNvPr id="111" name="TextBox 110"/>
          <p:cNvSpPr txBox="1"/>
          <p:nvPr/>
        </p:nvSpPr>
        <p:spPr>
          <a:xfrm>
            <a:off x="10985500" y="1333500"/>
            <a:ext cx="85725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150" b="1" i="0">
                <a:solidFill>
                  <a:srgbClr val="17191C"/>
                </a:solidFill>
                <a:latin typeface="Anuphan"/>
              </a:defRPr>
            </a:pPr>
            <a:r>
              <a:t>กข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85500" y="1695450"/>
            <a:ext cx="76200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17191C"/>
                </a:solidFill>
                <a:latin typeface="Anuphan"/>
              </a:defRPr>
            </a:pPr>
            <a:r>
              <a:t>ANUPHAN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985500" y="1809750"/>
            <a:ext cx="857250" cy="107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" b="0" i="0">
                <a:solidFill>
                  <a:srgbClr val="6E747B"/>
                </a:solidFill>
                <a:latin typeface="Anuphan"/>
              </a:defRPr>
            </a:pPr>
            <a:r>
              <a:t>700   600   400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85500" y="1930400"/>
            <a:ext cx="952500" cy="298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Anuphan"/>
              </a:defRPr>
            </a:pPr>
            <a:r>
              <a:t>ภาษาไทยสำหรับแบรนด์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Anuphan"/>
              </a:defRPr>
            </a:pPr>
            <a:r>
              <a:t>ป้ายบริการและข้อความ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50" b="0" i="0">
                <a:solidFill>
                  <a:srgbClr val="222A31"/>
                </a:solidFill>
                <a:latin typeface="Anuphan"/>
              </a:defRPr>
            </a:pPr>
            <a:r>
              <a:t>0123456789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90500" y="2667000"/>
            <a:ext cx="568325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SERVICE ICONS</a:t>
            </a:r>
          </a:p>
        </p:txBody>
      </p:sp>
      <p:cxnSp>
        <p:nvCxnSpPr>
          <p:cNvPr id="116" name="Connector 115"/>
          <p:cNvCxnSpPr/>
          <p:nvPr/>
        </p:nvCxnSpPr>
        <p:spPr>
          <a:xfrm>
            <a:off x="869950" y="2743200"/>
            <a:ext cx="500380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sp>
        <p:nvSpPr>
          <p:cNvPr id="117" name="Oval 116"/>
          <p:cNvSpPr/>
          <p:nvPr/>
        </p:nvSpPr>
        <p:spPr>
          <a:xfrm>
            <a:off x="190500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Rounded Rectangle 117"/>
          <p:cNvSpPr/>
          <p:nvPr/>
        </p:nvSpPr>
        <p:spPr>
          <a:xfrm>
            <a:off x="381000" y="3263900"/>
            <a:ext cx="228600" cy="190500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50850" y="3232150"/>
            <a:ext cx="88900" cy="31750"/>
          </a:xfrm>
          <a:prstGeom prst="rect">
            <a:avLst/>
          </a:prstGeom>
          <a:solidFill>
            <a:srgbClr val="222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0" name="Connector 119"/>
          <p:cNvCxnSpPr/>
          <p:nvPr/>
        </p:nvCxnSpPr>
        <p:spPr>
          <a:xfrm flipH="1">
            <a:off x="476250" y="3302000"/>
            <a:ext cx="38100" cy="635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21" name="Connector 120"/>
          <p:cNvCxnSpPr/>
          <p:nvPr/>
        </p:nvCxnSpPr>
        <p:spPr>
          <a:xfrm>
            <a:off x="476250" y="3365500"/>
            <a:ext cx="381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22" name="Connector 121"/>
          <p:cNvCxnSpPr/>
          <p:nvPr/>
        </p:nvCxnSpPr>
        <p:spPr>
          <a:xfrm flipH="1">
            <a:off x="482600" y="3365500"/>
            <a:ext cx="31750" cy="571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123" name="TextBox 122"/>
          <p:cNvSpPr txBox="1"/>
          <p:nvPr/>
        </p:nvSpPr>
        <p:spPr>
          <a:xfrm>
            <a:off x="1524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BATTERY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SERVICE</a:t>
            </a:r>
          </a:p>
        </p:txBody>
      </p:sp>
      <p:sp>
        <p:nvSpPr>
          <p:cNvPr id="124" name="Oval 123"/>
          <p:cNvSpPr/>
          <p:nvPr/>
        </p:nvSpPr>
        <p:spPr>
          <a:xfrm>
            <a:off x="990599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1155700" y="3219450"/>
            <a:ext cx="279400" cy="27940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1206500" y="3270250"/>
            <a:ext cx="177800" cy="17780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1263650" y="3327400"/>
            <a:ext cx="63500" cy="6350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28" name="Connector 127"/>
          <p:cNvCxnSpPr/>
          <p:nvPr/>
        </p:nvCxnSpPr>
        <p:spPr>
          <a:xfrm>
            <a:off x="1333500" y="3359150"/>
            <a:ext cx="44450" cy="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29" name="Connector 128"/>
          <p:cNvCxnSpPr/>
          <p:nvPr/>
        </p:nvCxnSpPr>
        <p:spPr>
          <a:xfrm>
            <a:off x="1322340" y="3386090"/>
            <a:ext cx="31431" cy="31431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0" name="Connector 129"/>
          <p:cNvCxnSpPr/>
          <p:nvPr/>
        </p:nvCxnSpPr>
        <p:spPr>
          <a:xfrm>
            <a:off x="1295400" y="3397250"/>
            <a:ext cx="0" cy="4445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1" name="Connector 130"/>
          <p:cNvCxnSpPr/>
          <p:nvPr/>
        </p:nvCxnSpPr>
        <p:spPr>
          <a:xfrm flipH="1">
            <a:off x="1237028" y="3386090"/>
            <a:ext cx="31431" cy="31431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2" name="Connector 131"/>
          <p:cNvCxnSpPr/>
          <p:nvPr/>
        </p:nvCxnSpPr>
        <p:spPr>
          <a:xfrm flipH="1">
            <a:off x="1212850" y="3359150"/>
            <a:ext cx="44450" cy="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3" name="Connector 132"/>
          <p:cNvCxnSpPr/>
          <p:nvPr/>
        </p:nvCxnSpPr>
        <p:spPr>
          <a:xfrm flipH="1" flipV="1">
            <a:off x="1237028" y="3300778"/>
            <a:ext cx="31431" cy="31431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4" name="Connector 133"/>
          <p:cNvCxnSpPr/>
          <p:nvPr/>
        </p:nvCxnSpPr>
        <p:spPr>
          <a:xfrm flipV="1">
            <a:off x="1295400" y="3276600"/>
            <a:ext cx="0" cy="4445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135" name="Connector 134"/>
          <p:cNvCxnSpPr/>
          <p:nvPr/>
        </p:nvCxnSpPr>
        <p:spPr>
          <a:xfrm flipV="1">
            <a:off x="1322340" y="3300778"/>
            <a:ext cx="31431" cy="31431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sp>
        <p:nvSpPr>
          <p:cNvPr id="136" name="TextBox 135"/>
          <p:cNvSpPr txBox="1"/>
          <p:nvPr/>
        </p:nvSpPr>
        <p:spPr>
          <a:xfrm>
            <a:off x="9525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TIRE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SERVICE</a:t>
            </a:r>
          </a:p>
        </p:txBody>
      </p:sp>
      <p:sp>
        <p:nvSpPr>
          <p:cNvPr id="137" name="Oval 136"/>
          <p:cNvSpPr/>
          <p:nvPr/>
        </p:nvSpPr>
        <p:spPr>
          <a:xfrm>
            <a:off x="1790700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38" name="Connector 137"/>
          <p:cNvCxnSpPr/>
          <p:nvPr/>
        </p:nvCxnSpPr>
        <p:spPr>
          <a:xfrm>
            <a:off x="1917700" y="3422650"/>
            <a:ext cx="3175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39" name="Connector 138"/>
          <p:cNvCxnSpPr/>
          <p:nvPr/>
        </p:nvCxnSpPr>
        <p:spPr>
          <a:xfrm flipV="1">
            <a:off x="2120900" y="3327400"/>
            <a:ext cx="0" cy="952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0" name="Connector 139"/>
          <p:cNvCxnSpPr/>
          <p:nvPr/>
        </p:nvCxnSpPr>
        <p:spPr>
          <a:xfrm>
            <a:off x="2120900" y="3327400"/>
            <a:ext cx="1270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1" name="Connector 140"/>
          <p:cNvCxnSpPr/>
          <p:nvPr/>
        </p:nvCxnSpPr>
        <p:spPr>
          <a:xfrm>
            <a:off x="2247900" y="3327400"/>
            <a:ext cx="38100" cy="952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2" name="Connector 141"/>
          <p:cNvCxnSpPr/>
          <p:nvPr/>
        </p:nvCxnSpPr>
        <p:spPr>
          <a:xfrm>
            <a:off x="2235200" y="3422650"/>
            <a:ext cx="508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3" name="Connector 142"/>
          <p:cNvCxnSpPr/>
          <p:nvPr/>
        </p:nvCxnSpPr>
        <p:spPr>
          <a:xfrm flipV="1">
            <a:off x="1981199" y="3308350"/>
            <a:ext cx="0" cy="1143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4" name="Connector 143"/>
          <p:cNvCxnSpPr/>
          <p:nvPr/>
        </p:nvCxnSpPr>
        <p:spPr>
          <a:xfrm>
            <a:off x="1981199" y="3308350"/>
            <a:ext cx="76201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5" name="Connector 144"/>
          <p:cNvCxnSpPr/>
          <p:nvPr/>
        </p:nvCxnSpPr>
        <p:spPr>
          <a:xfrm>
            <a:off x="2057400" y="3308350"/>
            <a:ext cx="44450" cy="571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146" name="Oval 145"/>
          <p:cNvSpPr/>
          <p:nvPr/>
        </p:nvSpPr>
        <p:spPr>
          <a:xfrm>
            <a:off x="1981199" y="3403600"/>
            <a:ext cx="63500" cy="63500"/>
          </a:xfrm>
          <a:prstGeom prst="ellipse">
            <a:avLst/>
          </a:prstGeom>
          <a:solidFill>
            <a:srgbClr val="FBFAF7"/>
          </a:solidFill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2197100" y="3403600"/>
            <a:ext cx="63500" cy="63500"/>
          </a:xfrm>
          <a:prstGeom prst="ellipse">
            <a:avLst/>
          </a:prstGeom>
          <a:solidFill>
            <a:srgbClr val="FBFAF7"/>
          </a:solidFill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8" name="Connector 147"/>
          <p:cNvCxnSpPr/>
          <p:nvPr/>
        </p:nvCxnSpPr>
        <p:spPr>
          <a:xfrm flipV="1">
            <a:off x="2127250" y="3200400"/>
            <a:ext cx="57150" cy="1270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49" name="Connector 148"/>
          <p:cNvCxnSpPr/>
          <p:nvPr/>
        </p:nvCxnSpPr>
        <p:spPr>
          <a:xfrm>
            <a:off x="2184400" y="3200400"/>
            <a:ext cx="9525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50" name="Connector 149"/>
          <p:cNvCxnSpPr/>
          <p:nvPr/>
        </p:nvCxnSpPr>
        <p:spPr>
          <a:xfrm>
            <a:off x="2279650" y="3200400"/>
            <a:ext cx="0" cy="508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151" name="TextBox 150"/>
          <p:cNvSpPr txBox="1"/>
          <p:nvPr/>
        </p:nvSpPr>
        <p:spPr>
          <a:xfrm>
            <a:off x="17526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TOW TRUCK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SERVICE</a:t>
            </a:r>
          </a:p>
        </p:txBody>
      </p:sp>
      <p:sp>
        <p:nvSpPr>
          <p:cNvPr id="152" name="Oval 151"/>
          <p:cNvSpPr/>
          <p:nvPr/>
        </p:nvSpPr>
        <p:spPr>
          <a:xfrm>
            <a:off x="2590800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Rounded Rectangle 152"/>
          <p:cNvSpPr/>
          <p:nvPr/>
        </p:nvSpPr>
        <p:spPr>
          <a:xfrm>
            <a:off x="2774950" y="3282950"/>
            <a:ext cx="222250" cy="165100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2844800" y="3225800"/>
            <a:ext cx="114300" cy="57150"/>
          </a:xfrm>
          <a:prstGeom prst="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5" name="Connector 154"/>
          <p:cNvCxnSpPr/>
          <p:nvPr/>
        </p:nvCxnSpPr>
        <p:spPr>
          <a:xfrm>
            <a:off x="2755900" y="3340100"/>
            <a:ext cx="1905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56" name="Connector 155"/>
          <p:cNvCxnSpPr/>
          <p:nvPr/>
        </p:nvCxnSpPr>
        <p:spPr>
          <a:xfrm>
            <a:off x="2997200" y="3340100"/>
            <a:ext cx="4445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57" name="Connector 156"/>
          <p:cNvCxnSpPr/>
          <p:nvPr/>
        </p:nvCxnSpPr>
        <p:spPr>
          <a:xfrm>
            <a:off x="2997200" y="3397250"/>
            <a:ext cx="4445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58" name="Connector 157"/>
          <p:cNvCxnSpPr/>
          <p:nvPr/>
        </p:nvCxnSpPr>
        <p:spPr>
          <a:xfrm>
            <a:off x="2825750" y="3448050"/>
            <a:ext cx="0" cy="381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59" name="Connector 158"/>
          <p:cNvCxnSpPr/>
          <p:nvPr/>
        </p:nvCxnSpPr>
        <p:spPr>
          <a:xfrm>
            <a:off x="2940050" y="3448050"/>
            <a:ext cx="0" cy="381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60" name="Connector 159"/>
          <p:cNvCxnSpPr/>
          <p:nvPr/>
        </p:nvCxnSpPr>
        <p:spPr>
          <a:xfrm flipH="1">
            <a:off x="2863850" y="3314700"/>
            <a:ext cx="38100" cy="57150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cxnSp>
        <p:nvCxnSpPr>
          <p:cNvPr id="161" name="Connector 160"/>
          <p:cNvCxnSpPr/>
          <p:nvPr/>
        </p:nvCxnSpPr>
        <p:spPr>
          <a:xfrm>
            <a:off x="2863850" y="3371850"/>
            <a:ext cx="38100" cy="0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cxnSp>
        <p:nvCxnSpPr>
          <p:cNvPr id="162" name="Connector 161"/>
          <p:cNvCxnSpPr/>
          <p:nvPr/>
        </p:nvCxnSpPr>
        <p:spPr>
          <a:xfrm flipH="1">
            <a:off x="2870200" y="3371850"/>
            <a:ext cx="31750" cy="44450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sp>
        <p:nvSpPr>
          <p:cNvPr id="163" name="TextBox 162"/>
          <p:cNvSpPr txBox="1"/>
          <p:nvPr/>
        </p:nvSpPr>
        <p:spPr>
          <a:xfrm>
            <a:off x="25527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REPAIR</a:t>
            </a:r>
          </a:p>
        </p:txBody>
      </p:sp>
      <p:sp>
        <p:nvSpPr>
          <p:cNvPr id="164" name="Oval 163"/>
          <p:cNvSpPr/>
          <p:nvPr/>
        </p:nvSpPr>
        <p:spPr>
          <a:xfrm>
            <a:off x="3390900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3600450" y="3225800"/>
            <a:ext cx="190500" cy="19050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3663950" y="3289300"/>
            <a:ext cx="63500" cy="6350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67" name="Connector 166"/>
          <p:cNvCxnSpPr/>
          <p:nvPr/>
        </p:nvCxnSpPr>
        <p:spPr>
          <a:xfrm>
            <a:off x="3613150" y="3365500"/>
            <a:ext cx="82550" cy="1333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68" name="Connector 167"/>
          <p:cNvCxnSpPr/>
          <p:nvPr/>
        </p:nvCxnSpPr>
        <p:spPr>
          <a:xfrm flipH="1">
            <a:off x="3695700" y="3365500"/>
            <a:ext cx="82550" cy="1333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169" name="TextBox 168"/>
          <p:cNvSpPr txBox="1"/>
          <p:nvPr/>
        </p:nvSpPr>
        <p:spPr>
          <a:xfrm>
            <a:off x="33528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LOCATION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TRACKING</a:t>
            </a:r>
          </a:p>
        </p:txBody>
      </p:sp>
      <p:sp>
        <p:nvSpPr>
          <p:cNvPr id="170" name="Oval 169"/>
          <p:cNvSpPr/>
          <p:nvPr/>
        </p:nvSpPr>
        <p:spPr>
          <a:xfrm>
            <a:off x="4190999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Rounded Rectangle 170"/>
          <p:cNvSpPr/>
          <p:nvPr/>
        </p:nvSpPr>
        <p:spPr>
          <a:xfrm>
            <a:off x="4375150" y="3251200"/>
            <a:ext cx="241300" cy="234949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2" name="Connector 171"/>
          <p:cNvCxnSpPr/>
          <p:nvPr/>
        </p:nvCxnSpPr>
        <p:spPr>
          <a:xfrm>
            <a:off x="4375150" y="3321050"/>
            <a:ext cx="2413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73" name="Connector 172"/>
          <p:cNvCxnSpPr/>
          <p:nvPr/>
        </p:nvCxnSpPr>
        <p:spPr>
          <a:xfrm>
            <a:off x="4432300" y="3219450"/>
            <a:ext cx="0" cy="63500"/>
          </a:xfrm>
          <a:prstGeom prst="line">
            <a:avLst/>
          </a:prstGeom>
          <a:ln w="30480">
            <a:solidFill>
              <a:srgbClr val="222A31"/>
            </a:solidFill>
          </a:ln>
        </p:spPr>
      </p:cxnSp>
      <p:cxnSp>
        <p:nvCxnSpPr>
          <p:cNvPr id="174" name="Connector 173"/>
          <p:cNvCxnSpPr/>
          <p:nvPr/>
        </p:nvCxnSpPr>
        <p:spPr>
          <a:xfrm>
            <a:off x="4559300" y="3219450"/>
            <a:ext cx="0" cy="63500"/>
          </a:xfrm>
          <a:prstGeom prst="line">
            <a:avLst/>
          </a:prstGeom>
          <a:ln w="30480">
            <a:solidFill>
              <a:srgbClr val="222A31"/>
            </a:solidFill>
          </a:ln>
        </p:spPr>
      </p:cxnSp>
      <p:cxnSp>
        <p:nvCxnSpPr>
          <p:cNvPr id="175" name="Connector 174"/>
          <p:cNvCxnSpPr/>
          <p:nvPr/>
        </p:nvCxnSpPr>
        <p:spPr>
          <a:xfrm>
            <a:off x="4445000" y="3403600"/>
            <a:ext cx="38100" cy="3810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cxnSp>
        <p:nvCxnSpPr>
          <p:cNvPr id="176" name="Connector 175"/>
          <p:cNvCxnSpPr/>
          <p:nvPr/>
        </p:nvCxnSpPr>
        <p:spPr>
          <a:xfrm flipV="1">
            <a:off x="4483100" y="3352800"/>
            <a:ext cx="82550" cy="8890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sp>
        <p:nvSpPr>
          <p:cNvPr id="177" name="TextBox 176"/>
          <p:cNvSpPr txBox="1"/>
          <p:nvPr/>
        </p:nvSpPr>
        <p:spPr>
          <a:xfrm>
            <a:off x="41529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BOOKING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ONLINE</a:t>
            </a:r>
          </a:p>
        </p:txBody>
      </p:sp>
      <p:sp>
        <p:nvSpPr>
          <p:cNvPr id="178" name="Oval 177"/>
          <p:cNvSpPr/>
          <p:nvPr/>
        </p:nvSpPr>
        <p:spPr>
          <a:xfrm>
            <a:off x="4991100" y="3054350"/>
            <a:ext cx="609600" cy="609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Pentagon 178"/>
          <p:cNvSpPr/>
          <p:nvPr/>
        </p:nvSpPr>
        <p:spPr>
          <a:xfrm rot="10800000">
            <a:off x="5156200" y="3206750"/>
            <a:ext cx="279400" cy="304800"/>
          </a:xfrm>
          <a:prstGeom prst="homePlat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0" name="Connector 179"/>
          <p:cNvCxnSpPr/>
          <p:nvPr/>
        </p:nvCxnSpPr>
        <p:spPr>
          <a:xfrm>
            <a:off x="5232400" y="3365500"/>
            <a:ext cx="50800" cy="5080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cxnSp>
        <p:nvCxnSpPr>
          <p:cNvPr id="181" name="Connector 180"/>
          <p:cNvCxnSpPr/>
          <p:nvPr/>
        </p:nvCxnSpPr>
        <p:spPr>
          <a:xfrm flipV="1">
            <a:off x="5283200" y="3308350"/>
            <a:ext cx="88900" cy="10795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sp>
        <p:nvSpPr>
          <p:cNvPr id="182" name="TextBox 181"/>
          <p:cNvSpPr txBox="1"/>
          <p:nvPr/>
        </p:nvSpPr>
        <p:spPr>
          <a:xfrm>
            <a:off x="4953000" y="3746500"/>
            <a:ext cx="685800" cy="2730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SAFETY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222A31"/>
                </a:solidFill>
                <a:latin typeface="Manrope"/>
              </a:defRPr>
            </a:pPr>
            <a:r>
              <a:t>GUARANTEE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6159500" y="2667000"/>
            <a:ext cx="5842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MASCOT VOICE</a:t>
            </a:r>
          </a:p>
        </p:txBody>
      </p:sp>
      <p:cxnSp>
        <p:nvCxnSpPr>
          <p:cNvPr id="184" name="Connector 183"/>
          <p:cNvCxnSpPr/>
          <p:nvPr/>
        </p:nvCxnSpPr>
        <p:spPr>
          <a:xfrm>
            <a:off x="6794500" y="2743200"/>
            <a:ext cx="520700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pic>
        <p:nvPicPr>
          <p:cNvPr id="185" name="Picture 184" descr="mascot_rea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4809" y="2781300"/>
            <a:ext cx="1146681" cy="1130300"/>
          </a:xfrm>
          <a:prstGeom prst="rect">
            <a:avLst/>
          </a:prstGeom>
        </p:spPr>
      </p:pic>
      <p:pic>
        <p:nvPicPr>
          <p:cNvPr id="186" name="Picture 185" descr="mascot_friend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6351" y="2781300"/>
            <a:ext cx="1075696" cy="1130300"/>
          </a:xfrm>
          <a:prstGeom prst="rect">
            <a:avLst/>
          </a:prstGeom>
        </p:spPr>
      </p:pic>
      <p:pic>
        <p:nvPicPr>
          <p:cNvPr id="187" name="Picture 186" descr="mascot_professio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862" y="2781300"/>
            <a:ext cx="1064775" cy="1130300"/>
          </a:xfrm>
          <a:prstGeom prst="rect">
            <a:avLst/>
          </a:prstGeom>
        </p:spPr>
      </p:pic>
      <p:pic>
        <p:nvPicPr>
          <p:cNvPr id="188" name="Picture 187" descr="brand_tagli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36120" y="2781300"/>
            <a:ext cx="1206759" cy="1231900"/>
          </a:xfrm>
          <a:prstGeom prst="rect">
            <a:avLst/>
          </a:prstGeom>
        </p:spPr>
      </p:pic>
      <p:sp>
        <p:nvSpPr>
          <p:cNvPr id="189" name="TextBox 188"/>
          <p:cNvSpPr txBox="1"/>
          <p:nvPr/>
        </p:nvSpPr>
        <p:spPr>
          <a:xfrm>
            <a:off x="6184900" y="3949700"/>
            <a:ext cx="1206500" cy="120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READY TO HELP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84900" y="4064000"/>
            <a:ext cx="12065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222A31"/>
                </a:solidFill>
                <a:latin typeface="Anuphan"/>
              </a:defRPr>
            </a:pPr>
            <a:r>
              <a:t>พร้อมช่วยเหลือ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7594600" y="3949700"/>
            <a:ext cx="1206500" cy="120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FAST &amp; FRIENDLY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594600" y="4064000"/>
            <a:ext cx="12065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222A31"/>
                </a:solidFill>
                <a:latin typeface="Anuphan"/>
              </a:defRPr>
            </a:pPr>
            <a:r>
              <a:t>รวดเร็ว เป็นกันเอง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9010650" y="3949700"/>
            <a:ext cx="1206500" cy="1206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PROFESSIONAL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9010650" y="4064000"/>
            <a:ext cx="1206500" cy="127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00" b="1" i="0">
                <a:solidFill>
                  <a:srgbClr val="222A31"/>
                </a:solidFill>
                <a:latin typeface="Anuphan"/>
              </a:defRPr>
            </a:pPr>
            <a:r>
              <a:t>เชี่ยวชาญ มั่นใจได้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190500" y="4508500"/>
            <a:ext cx="118110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17191C"/>
                </a:solidFill>
                <a:latin typeface="Manrope"/>
              </a:defRPr>
            </a:pPr>
            <a:r>
              <a:t>BRAND APPLICATIONS</a:t>
            </a:r>
          </a:p>
        </p:txBody>
      </p:sp>
      <p:cxnSp>
        <p:nvCxnSpPr>
          <p:cNvPr id="196" name="Connector 195"/>
          <p:cNvCxnSpPr/>
          <p:nvPr/>
        </p:nvCxnSpPr>
        <p:spPr>
          <a:xfrm>
            <a:off x="1092200" y="4584700"/>
            <a:ext cx="10909300" cy="0"/>
          </a:xfrm>
          <a:prstGeom prst="line">
            <a:avLst/>
          </a:prstGeom>
          <a:ln w="8890">
            <a:solidFill>
              <a:srgbClr val="D8DADD"/>
            </a:solidFill>
          </a:ln>
        </p:spPr>
      </p:cxnSp>
      <p:sp>
        <p:nvSpPr>
          <p:cNvPr id="197" name="Rounded Rectangle 196"/>
          <p:cNvSpPr/>
          <p:nvPr/>
        </p:nvSpPr>
        <p:spPr>
          <a:xfrm>
            <a:off x="190500" y="4699000"/>
            <a:ext cx="2095499" cy="1905000"/>
          </a:xfrm>
          <a:prstGeom prst="roundRect">
            <a:avLst/>
          </a:prstGeom>
          <a:solidFill>
            <a:srgbClr val="FBFAF7"/>
          </a:solidFill>
          <a:ln w="508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Rounded Rectangle 197"/>
          <p:cNvSpPr/>
          <p:nvPr/>
        </p:nvSpPr>
        <p:spPr>
          <a:xfrm>
            <a:off x="2349500" y="4699000"/>
            <a:ext cx="1460500" cy="1905000"/>
          </a:xfrm>
          <a:prstGeom prst="roundRect">
            <a:avLst/>
          </a:prstGeom>
          <a:solidFill>
            <a:srgbClr val="FBFAF7"/>
          </a:solidFill>
          <a:ln w="508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Rounded Rectangle 198"/>
          <p:cNvSpPr/>
          <p:nvPr/>
        </p:nvSpPr>
        <p:spPr>
          <a:xfrm>
            <a:off x="3873499" y="4699000"/>
            <a:ext cx="1301750" cy="1905000"/>
          </a:xfrm>
          <a:prstGeom prst="roundRect">
            <a:avLst/>
          </a:prstGeom>
          <a:solidFill>
            <a:srgbClr val="FBFAF7"/>
          </a:solidFill>
          <a:ln w="508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ounded Rectangle 199"/>
          <p:cNvSpPr/>
          <p:nvPr/>
        </p:nvSpPr>
        <p:spPr>
          <a:xfrm>
            <a:off x="5238750" y="4699000"/>
            <a:ext cx="3841750" cy="1905000"/>
          </a:xfrm>
          <a:prstGeom prst="roundRect">
            <a:avLst/>
          </a:prstGeom>
          <a:solidFill>
            <a:srgbClr val="FBFAF7"/>
          </a:solidFill>
          <a:ln w="508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Rounded Rectangle 200"/>
          <p:cNvSpPr/>
          <p:nvPr/>
        </p:nvSpPr>
        <p:spPr>
          <a:xfrm>
            <a:off x="9144000" y="4699000"/>
            <a:ext cx="2857500" cy="1905000"/>
          </a:xfrm>
          <a:prstGeom prst="roundRect">
            <a:avLst/>
          </a:prstGeom>
          <a:solidFill>
            <a:srgbClr val="FBFAF7"/>
          </a:solidFill>
          <a:ln w="508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02" name="Picture 201" descr="application_mobi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977" y="4705350"/>
            <a:ext cx="1956544" cy="1892300"/>
          </a:xfrm>
          <a:prstGeom prst="rect">
            <a:avLst/>
          </a:prstGeom>
        </p:spPr>
      </p:pic>
      <p:pic>
        <p:nvPicPr>
          <p:cNvPr id="203" name="Picture 202" descr="application_shir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55850" y="4807817"/>
            <a:ext cx="1447800" cy="1687364"/>
          </a:xfrm>
          <a:prstGeom prst="rect">
            <a:avLst/>
          </a:prstGeom>
        </p:spPr>
      </p:pic>
      <p:pic>
        <p:nvPicPr>
          <p:cNvPr id="204" name="Picture 203" descr="application_ca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9850" y="4910296"/>
            <a:ext cx="1289050" cy="1482407"/>
          </a:xfrm>
          <a:prstGeom prst="rect">
            <a:avLst/>
          </a:prstGeom>
        </p:spPr>
      </p:pic>
      <p:pic>
        <p:nvPicPr>
          <p:cNvPr id="205" name="Picture 204" descr="application_va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77226" y="4705350"/>
            <a:ext cx="2764797" cy="1892300"/>
          </a:xfrm>
          <a:prstGeom prst="rect">
            <a:avLst/>
          </a:prstGeom>
        </p:spPr>
      </p:pic>
      <p:pic>
        <p:nvPicPr>
          <p:cNvPr id="206" name="Picture 205" descr="application_prom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66836" y="4705350"/>
            <a:ext cx="2611827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42900"/>
            <a:ext cx="5715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191C"/>
                </a:solidFill>
                <a:latin typeface="Manrope"/>
              </a:defRPr>
            </a:pPr>
            <a:r>
              <a:t>FIXNOW  /  LOGO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8128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6E747B"/>
                </a:solidFill>
                <a:latin typeface="Manrope"/>
              </a:defRPr>
            </a:pPr>
            <a:r>
              <a:t>Each mark and wordmark is built from editable shapes and text.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4500" y="1206500"/>
            <a:ext cx="11303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444500" y="1460500"/>
            <a:ext cx="5334000" cy="190500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5000" y="1574800"/>
            <a:ext cx="2857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PRIMARY HORIZONTAL LOCKUP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0250" y="2063750"/>
            <a:ext cx="647700" cy="64770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96925" y="2130425"/>
            <a:ext cx="514350" cy="514350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1225" y="2216150"/>
            <a:ext cx="76200" cy="32385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1225" y="2216150"/>
            <a:ext cx="295275" cy="762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1225" y="2339975"/>
            <a:ext cx="219075" cy="762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Parallelogram 12"/>
          <p:cNvSpPr/>
          <p:nvPr/>
        </p:nvSpPr>
        <p:spPr>
          <a:xfrm>
            <a:off x="1025524" y="2311400"/>
            <a:ext cx="190500" cy="76200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58875" y="2492375"/>
            <a:ext cx="114300" cy="1143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01775" y="2054225"/>
            <a:ext cx="233362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50" b="1" i="0">
                <a:solidFill>
                  <a:srgbClr val="17191C"/>
                </a:solidFill>
                <a:latin typeface="Manrope"/>
              </a:defRPr>
            </a:pPr>
            <a:r>
              <a:t>FixNow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30350" y="2530475"/>
            <a:ext cx="1762125" cy="266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7191C"/>
                </a:solidFill>
                <a:latin typeface="Manrope"/>
              </a:defRPr>
            </a:pPr>
            <a:r>
              <a:t>YOUR CAR HELP,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75" b="1" i="0">
                <a:solidFill>
                  <a:srgbClr val="17191C"/>
                </a:solidFill>
                <a:latin typeface="Manrope"/>
              </a:defRPr>
            </a:pPr>
            <a:r>
              <a:t>RIGHT NOW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67000" y="2863850"/>
            <a:ext cx="2667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222A31"/>
                </a:solidFill>
                <a:latin typeface="Anuphan"/>
              </a:defRPr>
            </a:pPr>
            <a:r>
              <a:t>ไทย: รถมีปัญหา? FixNow ให้ช่างไปหาคุณ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96000" y="1460500"/>
            <a:ext cx="5651500" cy="1905000"/>
          </a:xfrm>
          <a:prstGeom prst="roundRect">
            <a:avLst/>
          </a:prstGeom>
          <a:solidFill>
            <a:srgbClr val="17191C"/>
          </a:solidFill>
          <a:ln w="12700">
            <a:solidFill>
              <a:srgbClr val="1719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6500" y="1574800"/>
            <a:ext cx="28575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DDE1E4"/>
                </a:solidFill>
                <a:latin typeface="Manrope"/>
              </a:defRPr>
            </a:pPr>
            <a:r>
              <a:t>REVERSED / ON DARK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13500" y="2063750"/>
            <a:ext cx="647700" cy="6477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80175" y="2130425"/>
            <a:ext cx="514350" cy="51435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94475" y="2216150"/>
            <a:ext cx="76200" cy="3238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94475" y="2216150"/>
            <a:ext cx="295275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94475" y="2339975"/>
            <a:ext cx="219075" cy="76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arallelogram 24"/>
          <p:cNvSpPr/>
          <p:nvPr/>
        </p:nvSpPr>
        <p:spPr>
          <a:xfrm>
            <a:off x="6708775" y="2311400"/>
            <a:ext cx="190500" cy="76200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842125" y="2492375"/>
            <a:ext cx="114300" cy="1143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85025" y="2054225"/>
            <a:ext cx="2333625" cy="5143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350" b="1" i="0">
                <a:solidFill>
                  <a:srgbClr val="FFFFFF"/>
                </a:solidFill>
                <a:latin typeface="Manrope"/>
              </a:defRPr>
            </a:pPr>
            <a:r>
              <a:t>FixNow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6700" y="2730500"/>
            <a:ext cx="2857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1" i="0">
                <a:solidFill>
                  <a:srgbClr val="DDE1E4"/>
                </a:solidFill>
                <a:latin typeface="Manrope"/>
              </a:defRPr>
            </a:pPr>
            <a:r>
              <a:t>YOUR CAR HELP, RIGHT NOW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4500" y="3651250"/>
            <a:ext cx="2667000" cy="231775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250" y="3778250"/>
            <a:ext cx="22225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SYMBOL (ISOLATED)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301750" y="4222750"/>
            <a:ext cx="863600" cy="86360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90650" y="4311650"/>
            <a:ext cx="685800" cy="685800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543050" y="4425950"/>
            <a:ext cx="101600" cy="4318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543050" y="4425950"/>
            <a:ext cx="393700" cy="1016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43050" y="4591050"/>
            <a:ext cx="292100" cy="1016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Parallelogram 35"/>
          <p:cNvSpPr/>
          <p:nvPr/>
        </p:nvSpPr>
        <p:spPr>
          <a:xfrm>
            <a:off x="1695450" y="4552950"/>
            <a:ext cx="254000" cy="101600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73250" y="4794250"/>
            <a:ext cx="152400" cy="1524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0250" y="5302250"/>
            <a:ext cx="2095499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22A31"/>
                </a:solidFill>
                <a:latin typeface="Manrope"/>
              </a:defRPr>
            </a:pPr>
            <a:r>
              <a:t>Separate mark components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302000" y="3651250"/>
            <a:ext cx="2667000" cy="231775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60750" y="3778250"/>
            <a:ext cx="22225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APP ICON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9750" y="4222750"/>
            <a:ext cx="863600" cy="86360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438650" y="4311650"/>
            <a:ext cx="685800" cy="685800"/>
          </a:xfrm>
          <a:prstGeom prst="round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91050" y="4425950"/>
            <a:ext cx="101600" cy="4318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91050" y="4425950"/>
            <a:ext cx="393700" cy="1016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591050" y="4591050"/>
            <a:ext cx="292100" cy="101600"/>
          </a:xfrm>
          <a:prstGeom prst="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Parallelogram 45"/>
          <p:cNvSpPr/>
          <p:nvPr/>
        </p:nvSpPr>
        <p:spPr>
          <a:xfrm>
            <a:off x="4743450" y="4552950"/>
            <a:ext cx="254000" cy="101600"/>
          </a:xfrm>
          <a:prstGeom prst="parallelogram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921250" y="4794250"/>
            <a:ext cx="152400" cy="1524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587750" y="5302250"/>
            <a:ext cx="2095499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50" b="0" i="0">
                <a:solidFill>
                  <a:srgbClr val="222A31"/>
                </a:solidFill>
                <a:latin typeface="Manrope"/>
              </a:defRPr>
            </a:pPr>
            <a:r>
              <a:t>For mobile and launcher use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59500" y="3651250"/>
            <a:ext cx="5588000" cy="2317750"/>
          </a:xfrm>
          <a:prstGeom prst="roundRect">
            <a:avLst/>
          </a:prstGeom>
          <a:solidFill>
            <a:srgbClr val="FBFAF7"/>
          </a:solidFill>
          <a:ln w="1270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18250" y="3778250"/>
            <a:ext cx="2222500" cy="1714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LOGO CONSTRUCTION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45250" y="4222750"/>
            <a:ext cx="635000" cy="63500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18250" y="498475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222A31"/>
                </a:solidFill>
                <a:latin typeface="Manrope"/>
              </a:defRPr>
            </a:pPr>
            <a:r>
              <a:t>Frame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61249" y="4222750"/>
            <a:ext cx="635000" cy="635000"/>
          </a:xfrm>
          <a:prstGeom prst="roundRect">
            <a:avLst/>
          </a:prstGeom>
          <a:solidFill>
            <a:srgbClr val="F4F2ED"/>
          </a:solidFill>
          <a:ln w="1270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34250" y="498475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222A31"/>
                </a:solidFill>
                <a:latin typeface="Manrope"/>
              </a:defRPr>
            </a:pPr>
            <a:r>
              <a:t>Counter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77250" y="4222750"/>
            <a:ext cx="635000" cy="63500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50250" y="498475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222A31"/>
                </a:solidFill>
                <a:latin typeface="Manrope"/>
              </a:defRPr>
            </a:pPr>
            <a:r>
              <a:t>F structure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493250" y="4222750"/>
            <a:ext cx="635000" cy="635000"/>
          </a:xfrm>
          <a:prstGeom prst="roundRect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66250" y="498475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222A31"/>
                </a:solidFill>
                <a:latin typeface="Manrope"/>
              </a:defRPr>
            </a:pPr>
            <a:r>
              <a:t>Action slash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09250" y="4222750"/>
            <a:ext cx="635000" cy="635000"/>
          </a:xfrm>
          <a:prstGeom prst="roundRect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382250" y="4984750"/>
            <a:ext cx="889000" cy="165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222A31"/>
                </a:solidFill>
                <a:latin typeface="Manrope"/>
              </a:defRPr>
            </a:pPr>
            <a:r>
              <a:t>Pin dot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13500" y="5461000"/>
            <a:ext cx="5080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 i="0">
                <a:solidFill>
                  <a:srgbClr val="6E747B"/>
                </a:solidFill>
                <a:latin typeface="Manrope"/>
              </a:defRPr>
            </a:pPr>
            <a:r>
              <a:t>Colors and text stay editable; photo-based assets remain separate image objects.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42900"/>
            <a:ext cx="5715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191C"/>
                </a:solidFill>
                <a:latin typeface="Manrope"/>
              </a:defRPr>
            </a:pPr>
            <a:r>
              <a:t>FIXNOW  /  SERVICE ICONS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812800"/>
            <a:ext cx="762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6E747B"/>
                </a:solidFill>
                <a:latin typeface="Manrope"/>
              </a:defRPr>
            </a:pPr>
            <a:r>
              <a:t>Line icon family · orange outline ring · dark steel strokes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4500" y="1206500"/>
            <a:ext cx="11303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571500" y="1651000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8700" y="182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93190" y="2219325"/>
            <a:ext cx="388620" cy="323850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11935" y="2165350"/>
            <a:ext cx="151130" cy="53975"/>
          </a:xfrm>
          <a:prstGeom prst="rect">
            <a:avLst/>
          </a:prstGeom>
          <a:solidFill>
            <a:srgbClr val="222A3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H="1">
            <a:off x="1555115" y="2284095"/>
            <a:ext cx="64770" cy="10795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1" name="Connector 10"/>
          <p:cNvCxnSpPr/>
          <p:nvPr/>
        </p:nvCxnSpPr>
        <p:spPr>
          <a:xfrm>
            <a:off x="1555115" y="2392045"/>
            <a:ext cx="6477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12" name="Connector 11"/>
          <p:cNvCxnSpPr/>
          <p:nvPr/>
        </p:nvCxnSpPr>
        <p:spPr>
          <a:xfrm flipH="1">
            <a:off x="1565910" y="2392045"/>
            <a:ext cx="53975" cy="97155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13" name="TextBox 12"/>
          <p:cNvSpPr txBox="1"/>
          <p:nvPr/>
        </p:nvSpPr>
        <p:spPr>
          <a:xfrm>
            <a:off x="666750" y="306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BATTERY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328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24250" y="1651000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981450" y="182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02760" y="2143760"/>
            <a:ext cx="474979" cy="474979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120" y="2230120"/>
            <a:ext cx="302260" cy="30226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86275" y="2327275"/>
            <a:ext cx="107950" cy="10795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4605020" y="2381250"/>
            <a:ext cx="75565" cy="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4586049" y="2427049"/>
            <a:ext cx="53432" cy="53432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4540250" y="2446020"/>
            <a:ext cx="0" cy="75565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3" name="Connector 22"/>
          <p:cNvCxnSpPr/>
          <p:nvPr/>
        </p:nvCxnSpPr>
        <p:spPr>
          <a:xfrm flipH="1">
            <a:off x="4441018" y="2427049"/>
            <a:ext cx="53432" cy="53432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4" name="Connector 23"/>
          <p:cNvCxnSpPr/>
          <p:nvPr/>
        </p:nvCxnSpPr>
        <p:spPr>
          <a:xfrm flipH="1">
            <a:off x="4399914" y="2381250"/>
            <a:ext cx="75565" cy="0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 flipV="1">
            <a:off x="4441018" y="2282018"/>
            <a:ext cx="53432" cy="53432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4540250" y="2240915"/>
            <a:ext cx="0" cy="75565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4586049" y="2282018"/>
            <a:ext cx="53432" cy="53432"/>
          </a:xfrm>
          <a:prstGeom prst="line">
            <a:avLst/>
          </a:prstGeom>
          <a:ln w="15240">
            <a:solidFill>
              <a:srgbClr val="222A31"/>
            </a:solidFill>
          </a:ln>
        </p:spPr>
      </p:cxnSp>
      <p:sp>
        <p:nvSpPr>
          <p:cNvPr id="28" name="TextBox 27"/>
          <p:cNvSpPr txBox="1"/>
          <p:nvPr/>
        </p:nvSpPr>
        <p:spPr>
          <a:xfrm>
            <a:off x="3619500" y="306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TIRE SERVICE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9500" y="328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7000" y="1651000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934200" y="182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7190740" y="2489200"/>
            <a:ext cx="53975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3" name="Connector 32"/>
          <p:cNvCxnSpPr/>
          <p:nvPr/>
        </p:nvCxnSpPr>
        <p:spPr>
          <a:xfrm flipV="1">
            <a:off x="7536180" y="2327275"/>
            <a:ext cx="0" cy="161925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7536180" y="2327275"/>
            <a:ext cx="21590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5" name="Connector 34"/>
          <p:cNvCxnSpPr/>
          <p:nvPr/>
        </p:nvCxnSpPr>
        <p:spPr>
          <a:xfrm>
            <a:off x="7752080" y="2327275"/>
            <a:ext cx="64770" cy="161925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7730490" y="2489200"/>
            <a:ext cx="8636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7298690" y="2294889"/>
            <a:ext cx="0" cy="194311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8" name="Connector 37"/>
          <p:cNvCxnSpPr/>
          <p:nvPr/>
        </p:nvCxnSpPr>
        <p:spPr>
          <a:xfrm>
            <a:off x="7298690" y="2294889"/>
            <a:ext cx="129539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39" name="Connector 38"/>
          <p:cNvCxnSpPr/>
          <p:nvPr/>
        </p:nvCxnSpPr>
        <p:spPr>
          <a:xfrm>
            <a:off x="7428229" y="2294889"/>
            <a:ext cx="75566" cy="97156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40" name="Oval 39"/>
          <p:cNvSpPr/>
          <p:nvPr/>
        </p:nvSpPr>
        <p:spPr>
          <a:xfrm>
            <a:off x="7298690" y="2456815"/>
            <a:ext cx="107950" cy="107950"/>
          </a:xfrm>
          <a:prstGeom prst="ellipse">
            <a:avLst/>
          </a:prstGeom>
          <a:solidFill>
            <a:srgbClr val="FBFAF7"/>
          </a:solidFill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665720" y="2456815"/>
            <a:ext cx="107950" cy="107950"/>
          </a:xfrm>
          <a:prstGeom prst="ellipse">
            <a:avLst/>
          </a:prstGeom>
          <a:solidFill>
            <a:srgbClr val="FBFAF7"/>
          </a:solidFill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7546974" y="2111375"/>
            <a:ext cx="97156" cy="21590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7644130" y="2111375"/>
            <a:ext cx="161924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44" name="Connector 43"/>
          <p:cNvCxnSpPr/>
          <p:nvPr/>
        </p:nvCxnSpPr>
        <p:spPr>
          <a:xfrm>
            <a:off x="7806054" y="2111375"/>
            <a:ext cx="0" cy="8636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6572250" y="306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TOW TRUCK SERVICE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72250" y="328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429750" y="1651000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86950" y="182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240645" y="2251710"/>
            <a:ext cx="377825" cy="280669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359390" y="2154555"/>
            <a:ext cx="194310" cy="97155"/>
          </a:xfrm>
          <a:prstGeom prst="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10208259" y="2348864"/>
            <a:ext cx="32386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10618470" y="2348864"/>
            <a:ext cx="75564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10618470" y="2446020"/>
            <a:ext cx="75564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10327005" y="2532380"/>
            <a:ext cx="0" cy="6477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10521315" y="2532380"/>
            <a:ext cx="0" cy="6477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56" name="Connector 55"/>
          <p:cNvCxnSpPr/>
          <p:nvPr/>
        </p:nvCxnSpPr>
        <p:spPr>
          <a:xfrm flipH="1">
            <a:off x="10391775" y="2305685"/>
            <a:ext cx="64770" cy="97155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cxnSp>
        <p:nvCxnSpPr>
          <p:cNvPr id="57" name="Connector 56"/>
          <p:cNvCxnSpPr/>
          <p:nvPr/>
        </p:nvCxnSpPr>
        <p:spPr>
          <a:xfrm>
            <a:off x="10391775" y="2402840"/>
            <a:ext cx="64770" cy="0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cxnSp>
        <p:nvCxnSpPr>
          <p:cNvPr id="58" name="Connector 57"/>
          <p:cNvCxnSpPr/>
          <p:nvPr/>
        </p:nvCxnSpPr>
        <p:spPr>
          <a:xfrm flipH="1">
            <a:off x="10402570" y="2402840"/>
            <a:ext cx="53975" cy="75565"/>
          </a:xfrm>
          <a:prstGeom prst="line">
            <a:avLst/>
          </a:prstGeom>
          <a:ln w="25400">
            <a:solidFill>
              <a:srgbClr val="FF5A18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9525000" y="306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ENGINE REPAIR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25000" y="328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71500" y="4190999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1028700" y="436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1425575" y="4694555"/>
            <a:ext cx="323850" cy="32385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1533525" y="4802505"/>
            <a:ext cx="107950" cy="107950"/>
          </a:xfrm>
          <a:prstGeom prst="ellips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5" name="Connector 64"/>
          <p:cNvCxnSpPr/>
          <p:nvPr/>
        </p:nvCxnSpPr>
        <p:spPr>
          <a:xfrm>
            <a:off x="1447165" y="4932045"/>
            <a:ext cx="140335" cy="226695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66" name="Connector 65"/>
          <p:cNvCxnSpPr/>
          <p:nvPr/>
        </p:nvCxnSpPr>
        <p:spPr>
          <a:xfrm flipH="1">
            <a:off x="1587500" y="4932045"/>
            <a:ext cx="140335" cy="226695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66750" y="560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LOCATION TRACKING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66750" y="582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3524250" y="4190999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981450" y="436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4335145" y="4737735"/>
            <a:ext cx="410209" cy="399415"/>
          </a:xfrm>
          <a:prstGeom prst="roundRect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72" name="Connector 71"/>
          <p:cNvCxnSpPr/>
          <p:nvPr/>
        </p:nvCxnSpPr>
        <p:spPr>
          <a:xfrm>
            <a:off x="4335145" y="4856480"/>
            <a:ext cx="410210" cy="0"/>
          </a:xfrm>
          <a:prstGeom prst="line">
            <a:avLst/>
          </a:prstGeom>
          <a:ln w="25400">
            <a:solidFill>
              <a:srgbClr val="222A31"/>
            </a:solidFill>
          </a:ln>
        </p:spPr>
      </p:cxnSp>
      <p:cxnSp>
        <p:nvCxnSpPr>
          <p:cNvPr id="73" name="Connector 72"/>
          <p:cNvCxnSpPr/>
          <p:nvPr/>
        </p:nvCxnSpPr>
        <p:spPr>
          <a:xfrm>
            <a:off x="4432300" y="4683760"/>
            <a:ext cx="0" cy="107950"/>
          </a:xfrm>
          <a:prstGeom prst="line">
            <a:avLst/>
          </a:prstGeom>
          <a:ln w="30480">
            <a:solidFill>
              <a:srgbClr val="222A31"/>
            </a:solidFill>
          </a:ln>
        </p:spPr>
      </p:cxnSp>
      <p:cxnSp>
        <p:nvCxnSpPr>
          <p:cNvPr id="74" name="Connector 73"/>
          <p:cNvCxnSpPr/>
          <p:nvPr/>
        </p:nvCxnSpPr>
        <p:spPr>
          <a:xfrm>
            <a:off x="4648200" y="4683760"/>
            <a:ext cx="0" cy="107950"/>
          </a:xfrm>
          <a:prstGeom prst="line">
            <a:avLst/>
          </a:prstGeom>
          <a:ln w="30480">
            <a:solidFill>
              <a:srgbClr val="222A31"/>
            </a:solidFill>
          </a:ln>
        </p:spPr>
      </p:cxnSp>
      <p:cxnSp>
        <p:nvCxnSpPr>
          <p:cNvPr id="75" name="Connector 74"/>
          <p:cNvCxnSpPr/>
          <p:nvPr/>
        </p:nvCxnSpPr>
        <p:spPr>
          <a:xfrm>
            <a:off x="4453890" y="4996815"/>
            <a:ext cx="64770" cy="6477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cxnSp>
        <p:nvCxnSpPr>
          <p:cNvPr id="76" name="Connector 75"/>
          <p:cNvCxnSpPr/>
          <p:nvPr/>
        </p:nvCxnSpPr>
        <p:spPr>
          <a:xfrm flipV="1">
            <a:off x="4518660" y="4910455"/>
            <a:ext cx="140335" cy="151130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sp>
        <p:nvSpPr>
          <p:cNvPr id="77" name="TextBox 76"/>
          <p:cNvSpPr txBox="1"/>
          <p:nvPr/>
        </p:nvSpPr>
        <p:spPr>
          <a:xfrm>
            <a:off x="3619500" y="560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BOOKING ONLINE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619500" y="582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477000" y="4190999"/>
            <a:ext cx="2032000" cy="19050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6934200" y="4362450"/>
            <a:ext cx="1117600" cy="1117600"/>
          </a:xfrm>
          <a:prstGeom prst="ellipse">
            <a:avLst/>
          </a:prstGeom>
          <a:solidFill>
            <a:srgbClr val="FBFAF7"/>
          </a:solidFill>
          <a:ln w="15240">
            <a:solidFill>
              <a:srgbClr val="FF5A1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1" name="Pentagon 80"/>
          <p:cNvSpPr/>
          <p:nvPr/>
        </p:nvSpPr>
        <p:spPr>
          <a:xfrm rot="10800000">
            <a:off x="7255510" y="4662170"/>
            <a:ext cx="474979" cy="518160"/>
          </a:xfrm>
          <a:prstGeom prst="homePlate">
            <a:avLst/>
          </a:prstGeom>
          <a:noFill/>
          <a:ln w="25400">
            <a:solidFill>
              <a:srgbClr val="222A3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2" name="Connector 81"/>
          <p:cNvCxnSpPr/>
          <p:nvPr/>
        </p:nvCxnSpPr>
        <p:spPr>
          <a:xfrm>
            <a:off x="7385050" y="4932045"/>
            <a:ext cx="86359" cy="86359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cxnSp>
        <p:nvCxnSpPr>
          <p:cNvPr id="83" name="Connector 82"/>
          <p:cNvCxnSpPr/>
          <p:nvPr/>
        </p:nvCxnSpPr>
        <p:spPr>
          <a:xfrm flipV="1">
            <a:off x="7471409" y="4834890"/>
            <a:ext cx="151131" cy="183514"/>
          </a:xfrm>
          <a:prstGeom prst="line">
            <a:avLst/>
          </a:prstGeom>
          <a:ln w="29209">
            <a:solidFill>
              <a:srgbClr val="FF5A18"/>
            </a:solidFill>
          </a:ln>
        </p:spPr>
      </p:cxnSp>
      <p:sp>
        <p:nvSpPr>
          <p:cNvPr id="84" name="TextBox 83"/>
          <p:cNvSpPr txBox="1"/>
          <p:nvPr/>
        </p:nvSpPr>
        <p:spPr>
          <a:xfrm>
            <a:off x="6572250" y="5607050"/>
            <a:ext cx="1841500" cy="222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 i="0">
                <a:solidFill>
                  <a:srgbClr val="17191C"/>
                </a:solidFill>
                <a:latin typeface="Manrope"/>
              </a:defRPr>
            </a:pPr>
            <a:r>
              <a:t>SAFETY GUARANTEE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572250" y="5829300"/>
            <a:ext cx="1841500" cy="15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550" b="1" i="0">
                <a:solidFill>
                  <a:srgbClr val="FF5A18"/>
                </a:solidFill>
                <a:latin typeface="Manrope"/>
              </a:defRPr>
            </a:pPr>
            <a:r>
              <a:t>EDITABLE VECTOR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42900"/>
            <a:ext cx="762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191C"/>
                </a:solidFill>
                <a:latin typeface="Manrope"/>
              </a:defRPr>
            </a:pPr>
            <a:r>
              <a:t>FIXNOW  /  COLOR &amp; TYPOGRAPHY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812800"/>
            <a:ext cx="92075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6E747B"/>
                </a:solidFill>
                <a:latin typeface="Manrope"/>
              </a:defRPr>
            </a:pPr>
            <a:r>
              <a:t>Brand colors are represented as native editable shapes; type samples are editable text.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4500" y="1206500"/>
            <a:ext cx="11303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6" name="Oval 5"/>
          <p:cNvSpPr/>
          <p:nvPr/>
        </p:nvSpPr>
        <p:spPr>
          <a:xfrm>
            <a:off x="603250" y="1651000"/>
            <a:ext cx="825500" cy="825500"/>
          </a:xfrm>
          <a:prstGeom prst="ellipse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97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ACTION ORANGE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97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#FF5A18</a:t>
            </a:r>
          </a:p>
        </p:txBody>
      </p:sp>
      <p:sp>
        <p:nvSpPr>
          <p:cNvPr id="9" name="Oval 8"/>
          <p:cNvSpPr/>
          <p:nvPr/>
        </p:nvSpPr>
        <p:spPr>
          <a:xfrm>
            <a:off x="2444750" y="1651000"/>
            <a:ext cx="825500" cy="825500"/>
          </a:xfrm>
          <a:prstGeom prst="ellipse">
            <a:avLst/>
          </a:prstGeom>
          <a:solidFill>
            <a:srgbClr val="C83D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812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BURNT ORANGE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812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#C83D0A</a:t>
            </a:r>
          </a:p>
        </p:txBody>
      </p:sp>
      <p:sp>
        <p:nvSpPr>
          <p:cNvPr id="12" name="Oval 11"/>
          <p:cNvSpPr/>
          <p:nvPr/>
        </p:nvSpPr>
        <p:spPr>
          <a:xfrm>
            <a:off x="4286250" y="1651000"/>
            <a:ext cx="825500" cy="825500"/>
          </a:xfrm>
          <a:prstGeom prst="ellipse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227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GARAGE BLACK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27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#17191C</a:t>
            </a:r>
          </a:p>
        </p:txBody>
      </p:sp>
      <p:sp>
        <p:nvSpPr>
          <p:cNvPr id="15" name="Oval 14"/>
          <p:cNvSpPr/>
          <p:nvPr/>
        </p:nvSpPr>
        <p:spPr>
          <a:xfrm>
            <a:off x="6127750" y="1651000"/>
            <a:ext cx="825500" cy="825500"/>
          </a:xfrm>
          <a:prstGeom prst="ellipse">
            <a:avLst/>
          </a:prstGeom>
          <a:solidFill>
            <a:srgbClr val="6E747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642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STEEL GRAY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642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#6E747B</a:t>
            </a:r>
          </a:p>
        </p:txBody>
      </p:sp>
      <p:sp>
        <p:nvSpPr>
          <p:cNvPr id="18" name="Oval 17"/>
          <p:cNvSpPr/>
          <p:nvPr/>
        </p:nvSpPr>
        <p:spPr>
          <a:xfrm>
            <a:off x="7969250" y="1651000"/>
            <a:ext cx="825500" cy="825500"/>
          </a:xfrm>
          <a:prstGeom prst="ellipse">
            <a:avLst/>
          </a:prstGeom>
          <a:solidFill>
            <a:srgbClr val="DDE1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57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COOL SILVER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#DDE1E4</a:t>
            </a:r>
          </a:p>
        </p:txBody>
      </p:sp>
      <p:sp>
        <p:nvSpPr>
          <p:cNvPr id="21" name="Oval 20"/>
          <p:cNvSpPr/>
          <p:nvPr/>
        </p:nvSpPr>
        <p:spPr>
          <a:xfrm>
            <a:off x="9810750" y="1651000"/>
            <a:ext cx="825500" cy="825500"/>
          </a:xfrm>
          <a:prstGeom prst="ellipse">
            <a:avLst/>
          </a:prstGeom>
          <a:solidFill>
            <a:srgbClr val="F4F2ED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47250" y="2635250"/>
            <a:ext cx="101600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17191C"/>
                </a:solidFill>
                <a:latin typeface="Manrope"/>
              </a:defRPr>
            </a:pPr>
            <a:r>
              <a:t>WORKSHOP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47250" y="2933700"/>
            <a:ext cx="1016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50" b="0" i="0">
                <a:solidFill>
                  <a:srgbClr val="6E747B"/>
                </a:solidFill>
                <a:latin typeface="Manrope"/>
              </a:defRPr>
            </a:pPr>
            <a:r>
              <a:t>#F4F2ED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44500" y="3397250"/>
            <a:ext cx="11303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71500" y="36830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LATIN 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" y="3905249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000" b="1" i="0">
                <a:solidFill>
                  <a:srgbClr val="17191C"/>
                </a:solidFill>
                <a:latin typeface="Manrope"/>
              </a:defRPr>
            </a:pPr>
            <a:r>
              <a:t>Aa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" y="4699000"/>
            <a:ext cx="34925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7191C"/>
                </a:solidFill>
                <a:latin typeface="Manrope"/>
              </a:defRPr>
            </a:pPr>
            <a:r>
              <a:t>MANROPE  /  700 · 600 · 400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" y="5003800"/>
            <a:ext cx="3556000" cy="603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Manrope"/>
              </a:defRPr>
            </a:pPr>
            <a:r>
              <a:t>ABCDEFGHIJKLMNOPQRSTUVWXYZ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Manrope"/>
              </a:defRPr>
            </a:pPr>
            <a:r>
              <a:t>abcdefghijklmnopqrstuvwxyz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Manrope"/>
              </a:defRPr>
            </a:pPr>
            <a:r>
              <a:t>0123456789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397500" y="3619500"/>
            <a:ext cx="0" cy="228600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5778500" y="3683000"/>
            <a:ext cx="1905000" cy="177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 i="0">
                <a:solidFill>
                  <a:srgbClr val="6E747B"/>
                </a:solidFill>
                <a:latin typeface="Manrope"/>
              </a:defRPr>
            </a:pPr>
            <a:r>
              <a:t>THAI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78500" y="3905249"/>
            <a:ext cx="317500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 i="0">
                <a:solidFill>
                  <a:srgbClr val="17191C"/>
                </a:solidFill>
                <a:latin typeface="Anuphan"/>
              </a:defRPr>
            </a:pPr>
            <a:r>
              <a:t>กข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78500" y="4699000"/>
            <a:ext cx="3492500" cy="203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 i="0">
                <a:solidFill>
                  <a:srgbClr val="17191C"/>
                </a:solidFill>
                <a:latin typeface="Anuphan"/>
              </a:defRPr>
            </a:pPr>
            <a:r>
              <a:t>ANUPHAN  /  700 · 600 · 400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78500" y="5003800"/>
            <a:ext cx="4318000" cy="603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Anuphan"/>
              </a:defRPr>
            </a:pPr>
            <a:r>
              <a:t>ตัวอย่างภาษาไทยสำหรับข้อความแบรนด์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Anuphan"/>
              </a:defRPr>
            </a:pPr>
            <a:r>
              <a:t>ป้ายบริการและข้อความในแอปพลิเคชัน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900" b="0" i="0">
                <a:solidFill>
                  <a:srgbClr val="222A31"/>
                </a:solidFill>
                <a:latin typeface="Anuphan"/>
              </a:defRPr>
            </a:pPr>
            <a:r>
              <a:t>0123456789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160000" y="3746500"/>
            <a:ext cx="1587500" cy="1873250"/>
          </a:xfrm>
          <a:prstGeom prst="roundRect">
            <a:avLst/>
          </a:prstGeom>
          <a:solidFill>
            <a:srgbClr val="17191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8750" y="3968750"/>
            <a:ext cx="1270000" cy="190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 i="0">
                <a:solidFill>
                  <a:srgbClr val="DDE1E4"/>
                </a:solidFill>
                <a:latin typeface="Manrope"/>
              </a:defRPr>
            </a:pPr>
            <a:r>
              <a:t>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18750" y="4190999"/>
            <a:ext cx="1270000" cy="304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50" b="1" i="0">
                <a:solidFill>
                  <a:srgbClr val="FF5A18"/>
                </a:solidFill>
                <a:latin typeface="Manrope"/>
              </a:defRPr>
            </a:pPr>
            <a:r>
              <a:t>ORANGE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18750" y="4635500"/>
            <a:ext cx="1270000" cy="50800"/>
          </a:xfrm>
          <a:prstGeom prst="rect">
            <a:avLst/>
          </a:prstGeom>
          <a:solidFill>
            <a:srgbClr val="FF5A1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318750" y="4826000"/>
            <a:ext cx="127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0" i="0">
                <a:solidFill>
                  <a:srgbClr val="DDE1E4"/>
                </a:solidFill>
                <a:latin typeface="Manrope"/>
              </a:defRPr>
            </a:pPr>
            <a:r>
              <a:t>Use for calls to action,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650" b="0" i="0">
                <a:solidFill>
                  <a:srgbClr val="DDE1E4"/>
                </a:solidFill>
                <a:latin typeface="Manrope"/>
              </a:defRPr>
            </a:pPr>
            <a:r>
              <a:t>status highlights and markers.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44500" y="342900"/>
            <a:ext cx="7620000" cy="444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7191C"/>
                </a:solidFill>
                <a:latin typeface="Manrope"/>
              </a:defRPr>
            </a:pPr>
            <a:r>
              <a:t>FIXNOW  /  BRAND APPLICATIONS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4500" y="8128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50" b="0" i="0">
                <a:solidFill>
                  <a:srgbClr val="6E747B"/>
                </a:solidFill>
                <a:latin typeface="Manrope"/>
              </a:defRPr>
            </a:pPr>
            <a:r>
              <a:t>Every photograph/mockup below is its own separate image object and can be moved, resized or replaced.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44500" y="1206500"/>
            <a:ext cx="11303000" cy="0"/>
          </a:xfrm>
          <a:prstGeom prst="line">
            <a:avLst/>
          </a:prstGeom>
          <a:ln w="12700">
            <a:solidFill>
              <a:srgbClr val="D8DADD"/>
            </a:solidFill>
          </a:ln>
        </p:spPr>
      </p:cxnSp>
      <p:sp>
        <p:nvSpPr>
          <p:cNvPr id="6" name="Rounded Rectangle 5"/>
          <p:cNvSpPr/>
          <p:nvPr/>
        </p:nvSpPr>
        <p:spPr>
          <a:xfrm>
            <a:off x="444500" y="1524000"/>
            <a:ext cx="2540000" cy="225425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7" name="Picture 6" descr="application_mob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48" y="1574800"/>
            <a:ext cx="2002503" cy="193674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33400" y="3562350"/>
            <a:ext cx="23622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MOBILE APP / SERVICE FLOW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43250" y="1524000"/>
            <a:ext cx="1619250" cy="225425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application_shi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4050" y="1658789"/>
            <a:ext cx="1517650" cy="176877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232150" y="3562350"/>
            <a:ext cx="14414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STAFF UNIFORM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21250" y="1524000"/>
            <a:ext cx="1619250" cy="225425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application_c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2050" y="1670526"/>
            <a:ext cx="1517650" cy="174529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10150" y="3562350"/>
            <a:ext cx="14414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CAP / UNIFORM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99250" y="1524000"/>
            <a:ext cx="5048250" cy="225425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" name="Picture 15" descr="application_v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503" y="1574800"/>
            <a:ext cx="2829742" cy="193674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788150" y="3562350"/>
            <a:ext cx="487045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SERVICE VAN / VEHICLE BRANDING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4500" y="4032250"/>
            <a:ext cx="4445000" cy="22225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application_prom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321" y="4083050"/>
            <a:ext cx="2629356" cy="1905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3400" y="6038850"/>
            <a:ext cx="4267200" cy="139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50" b="1" i="0">
                <a:solidFill>
                  <a:srgbClr val="17191C"/>
                </a:solidFill>
                <a:latin typeface="Manrope"/>
              </a:defRPr>
            </a:pPr>
            <a:r>
              <a:t>PROMOTIONAL CREATIVE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07000" y="4032250"/>
            <a:ext cx="1778000" cy="22225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2" name="Picture 21" descr="mascot_read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70500" y="4186917"/>
            <a:ext cx="1651000" cy="1627414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7143750" y="4032250"/>
            <a:ext cx="1778000" cy="22225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mascot_friendl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7250" y="4133221"/>
            <a:ext cx="1651000" cy="1734807"/>
          </a:xfrm>
          <a:prstGeom prst="rect">
            <a:avLst/>
          </a:prstGeom>
        </p:spPr>
      </p:pic>
      <p:sp>
        <p:nvSpPr>
          <p:cNvPr id="25" name="Rounded Rectangle 24"/>
          <p:cNvSpPr/>
          <p:nvPr/>
        </p:nvSpPr>
        <p:spPr>
          <a:xfrm>
            <a:off x="9080500" y="4032250"/>
            <a:ext cx="1778000" cy="2222500"/>
          </a:xfrm>
          <a:prstGeom prst="roundRect">
            <a:avLst/>
          </a:prstGeom>
          <a:solidFill>
            <a:srgbClr val="FBFAF7"/>
          </a:solidFill>
          <a:ln w="10160">
            <a:solidFill>
              <a:srgbClr val="D8DADD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6" name="Picture 25" descr="mascot_profession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44000" y="4124325"/>
            <a:ext cx="1651000" cy="17526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207000" y="6032500"/>
            <a:ext cx="5651500" cy="196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600" b="0" i="0">
                <a:solidFill>
                  <a:srgbClr val="6E747B"/>
                </a:solidFill>
                <a:latin typeface="Manrope"/>
              </a:defRPr>
            </a:pPr>
            <a:r>
              <a:t>Mascot images are intentionally retained as raster assets from the source board; redraw as 3D assets if you need editable facial/clothing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